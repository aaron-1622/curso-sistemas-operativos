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00000"/>
                </a:solidFill>
              </a:defRPr>
            </a:pPr>
            <a:r>
              <a:t>OPERACIONES DE RESCATE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Protocolos, Técnicas y Procedimientos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Universidad Fidelitas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Curso de Fundamentos de Sistemas Operativos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C00000"/>
                </a:solidFill>
              </a:defRPr>
            </a:pPr>
            <a:r>
              <a:t>Contenido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>
                <a:solidFill>
                  <a:srgbClr val="404040"/>
                </a:solidFill>
              </a:defRPr>
            </a:pPr>
            <a:r>
              <a:t>1. Tipos de Operaciones de Rescate</a:t>
            </a:r>
          </a:p>
          <a:p>
            <a:pPr>
              <a:spcBef>
                <a:spcPts val="1200"/>
              </a:spcBef>
              <a:defRPr sz="2400">
                <a:solidFill>
                  <a:srgbClr val="404040"/>
                </a:solidFill>
              </a:defRPr>
            </a:pPr>
            <a:r>
              <a:t>2. Protocolos de Seguridad</a:t>
            </a:r>
          </a:p>
          <a:p>
            <a:pPr>
              <a:spcBef>
                <a:spcPts val="1200"/>
              </a:spcBef>
              <a:defRPr sz="2400">
                <a:solidFill>
                  <a:srgbClr val="404040"/>
                </a:solidFill>
              </a:defRPr>
            </a:pPr>
            <a:r>
              <a:t>3. Equipamiento Esencial</a:t>
            </a:r>
          </a:p>
          <a:p>
            <a:pPr>
              <a:spcBef>
                <a:spcPts val="1200"/>
              </a:spcBef>
              <a:defRPr sz="2400">
                <a:solidFill>
                  <a:srgbClr val="404040"/>
                </a:solidFill>
              </a:defRPr>
            </a:pPr>
            <a:r>
              <a:t>4. Fases de una Operación</a:t>
            </a:r>
          </a:p>
          <a:p>
            <a:pPr>
              <a:spcBef>
                <a:spcPts val="1200"/>
              </a:spcBef>
              <a:defRPr sz="2400">
                <a:solidFill>
                  <a:srgbClr val="404040"/>
                </a:solidFill>
              </a:defRPr>
            </a:pPr>
            <a:r>
              <a:t>5. Coordinación y Comunicación</a:t>
            </a:r>
          </a:p>
          <a:p>
            <a:pPr>
              <a:spcBef>
                <a:spcPts val="1200"/>
              </a:spcBef>
              <a:defRPr sz="2400">
                <a:solidFill>
                  <a:srgbClr val="404040"/>
                </a:solidFill>
              </a:defRPr>
            </a:pPr>
            <a:r>
              <a:t>6.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C00000"/>
                </a:solidFill>
              </a:defRPr>
            </a:pPr>
            <a:r>
              <a:t>Tipos de Operaciones de Rescate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🏔️ Rescate en Montaña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Operaciones en terreno elevado y difícil acceso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🌊 Rescate Acuático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Salvamento en ríos, lagos, mares y zonas inundadas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🏙️ Rescate Urbano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Emergencias en edificios, estructuras colapsadas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🚁 Rescate Aéreo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Evacuación y transporte mediante helicópteros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🔥 Rescate en Incendios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Extracción de víctimas en estructuras en llamas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⚠️ Rescate Industrial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Espacios confinados y ambientes peligrosos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C00000"/>
                </a:solidFill>
              </a:defRPr>
            </a:pPr>
            <a:r>
              <a:t>Protocolos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200">
                <a:solidFill>
                  <a:srgbClr val="404040"/>
                </a:solidFill>
              </a:defRPr>
            </a:pPr>
            <a:r>
              <a:t>✓ Evaluación inicial de la escena</a:t>
            </a:r>
          </a:p>
          <a:p>
            <a:pPr>
              <a:spcBef>
                <a:spcPts val="800"/>
              </a:spcBef>
              <a:defRPr sz="2200">
                <a:solidFill>
                  <a:srgbClr val="404040"/>
                </a:solidFill>
              </a:defRPr>
            </a:pPr>
            <a:r>
              <a:t>✓ Identificación de peligros potenciales</a:t>
            </a:r>
          </a:p>
          <a:p>
            <a:pPr>
              <a:spcBef>
                <a:spcPts val="800"/>
              </a:spcBef>
              <a:defRPr sz="2200">
                <a:solidFill>
                  <a:srgbClr val="404040"/>
                </a:solidFill>
              </a:defRPr>
            </a:pPr>
            <a:r>
              <a:t>✓ Establecimiento de perímetro de seguridad</a:t>
            </a:r>
          </a:p>
          <a:p>
            <a:pPr>
              <a:spcBef>
                <a:spcPts val="800"/>
              </a:spcBef>
              <a:defRPr sz="2200">
                <a:solidFill>
                  <a:srgbClr val="404040"/>
                </a:solidFill>
              </a:defRPr>
            </a:pPr>
            <a:r>
              <a:t>✓ Uso obligatorio de equipo de protección personal (EPP)</a:t>
            </a:r>
          </a:p>
          <a:p>
            <a:pPr>
              <a:spcBef>
                <a:spcPts val="800"/>
              </a:spcBef>
              <a:defRPr sz="2200">
                <a:solidFill>
                  <a:srgbClr val="404040"/>
                </a:solidFill>
              </a:defRPr>
            </a:pPr>
            <a:r>
              <a:t>✓ Comunicación constante con el equipo</a:t>
            </a:r>
          </a:p>
          <a:p>
            <a:pPr>
              <a:spcBef>
                <a:spcPts val="800"/>
              </a:spcBef>
              <a:defRPr sz="2200">
                <a:solidFill>
                  <a:srgbClr val="404040"/>
                </a:solidFill>
              </a:defRPr>
            </a:pPr>
            <a:r>
              <a:t>✓ Verificación de condiciones ambientales</a:t>
            </a:r>
          </a:p>
          <a:p>
            <a:pPr>
              <a:spcBef>
                <a:spcPts val="800"/>
              </a:spcBef>
              <a:defRPr sz="2200">
                <a:solidFill>
                  <a:srgbClr val="404040"/>
                </a:solidFill>
              </a:defRPr>
            </a:pPr>
            <a:r>
              <a:t>✓ Plan de evacuación de emergencia</a:t>
            </a:r>
          </a:p>
          <a:p>
            <a:pPr>
              <a:spcBef>
                <a:spcPts val="800"/>
              </a:spcBef>
              <a:defRPr sz="2200">
                <a:solidFill>
                  <a:srgbClr val="404040"/>
                </a:solidFill>
              </a:defRPr>
            </a:pPr>
            <a:r>
              <a:t>✓ Monitoreo continuo de la situación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C00000"/>
                </a:solidFill>
              </a:defRPr>
            </a:pPr>
            <a:r>
              <a:t>Equipamiento Esencial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Protección Personal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Cascos, guantes, arneses, botas especializadas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Comunicación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Radios, GPS, señales de emergencia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Herramientas de Corte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Sierras, cortadores hidráulicos, esparcidores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Equipo de Elevación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Cuerdas, poleas, camillas, sistemas de anclaje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Iluminación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Linternas, reflectores, señales luminosas</a:t>
            </a:r>
          </a:p>
          <a:p>
            <a:pPr>
              <a:spcBef>
                <a:spcPts val="1000"/>
              </a:spcBef>
              <a:defRPr sz="2200" b="1">
                <a:solidFill>
                  <a:srgbClr val="FF8C00"/>
                </a:solidFill>
              </a:defRPr>
            </a:pPr>
            <a:r>
              <a:t>Primeros Auxilios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Botiquín completo, desfibrilador, oxígeno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C00000"/>
                </a:solidFill>
              </a:defRPr>
            </a:pPr>
            <a:r>
              <a:t>Fases de una Operación de Rescate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 b="1">
                <a:solidFill>
                  <a:srgbClr val="FF8C00"/>
                </a:solidFill>
              </a:defRPr>
            </a:pPr>
            <a:r>
              <a:t>1️⃣ ACTIVACIÓN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Recepción de alerta y movilización del equipo</a:t>
            </a:r>
          </a:p>
          <a:p>
            <a:pPr>
              <a:spcBef>
                <a:spcPts val="600"/>
              </a:spcBef>
              <a:defRPr sz="2000" b="1">
                <a:solidFill>
                  <a:srgbClr val="FF8C00"/>
                </a:solidFill>
              </a:defRPr>
            </a:pPr>
            <a:r>
              <a:t>2️⃣ EVALUACIÓN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Análisis de la situación y planificación táctica</a:t>
            </a:r>
          </a:p>
          <a:p>
            <a:pPr>
              <a:spcBef>
                <a:spcPts val="600"/>
              </a:spcBef>
              <a:defRPr sz="2000" b="1">
                <a:solidFill>
                  <a:srgbClr val="FF8C00"/>
                </a:solidFill>
              </a:defRPr>
            </a:pPr>
            <a:r>
              <a:t>3️⃣ PREPARACIÓN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Organización de recursos y equipamiento</a:t>
            </a:r>
          </a:p>
          <a:p>
            <a:pPr>
              <a:spcBef>
                <a:spcPts val="600"/>
              </a:spcBef>
              <a:defRPr sz="2000" b="1">
                <a:solidFill>
                  <a:srgbClr val="FF8C00"/>
                </a:solidFill>
              </a:defRPr>
            </a:pPr>
            <a:r>
              <a:t>4️⃣ ACCESO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Llegada al lugar y establecimiento de zona segura</a:t>
            </a:r>
          </a:p>
          <a:p>
            <a:pPr>
              <a:spcBef>
                <a:spcPts val="600"/>
              </a:spcBef>
              <a:defRPr sz="2000" b="1">
                <a:solidFill>
                  <a:srgbClr val="FF8C00"/>
                </a:solidFill>
              </a:defRPr>
            </a:pPr>
            <a:r>
              <a:t>5️⃣ ESTABILIZACIÓN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Control de riesgos y aseguramiento del área</a:t>
            </a:r>
          </a:p>
          <a:p>
            <a:pPr>
              <a:spcBef>
                <a:spcPts val="600"/>
              </a:spcBef>
              <a:defRPr sz="2000" b="1">
                <a:solidFill>
                  <a:srgbClr val="FF8C00"/>
                </a:solidFill>
              </a:defRPr>
            </a:pPr>
            <a:r>
              <a:t>6️⃣ RESCATE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Extracción de víctimas de forma segura</a:t>
            </a:r>
          </a:p>
          <a:p>
            <a:pPr>
              <a:spcBef>
                <a:spcPts val="600"/>
              </a:spcBef>
              <a:defRPr sz="2000" b="1">
                <a:solidFill>
                  <a:srgbClr val="FF8C00"/>
                </a:solidFill>
              </a:defRPr>
            </a:pPr>
            <a:r>
              <a:t>7️⃣ EVACUACIÓN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Traslado a zona segura o centro médico</a:t>
            </a:r>
          </a:p>
          <a:p>
            <a:pPr>
              <a:spcBef>
                <a:spcPts val="600"/>
              </a:spcBef>
              <a:defRPr sz="2000" b="1">
                <a:solidFill>
                  <a:srgbClr val="FF8C00"/>
                </a:solidFill>
              </a:defRPr>
            </a:pPr>
            <a:r>
              <a:t>8️⃣ CIERRE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Evaluación post-operación y reporte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C00000"/>
                </a:solidFill>
              </a:defRPr>
            </a:pPr>
            <a:r>
              <a:t>Coordinación y Comunicación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📡 Sistema de Comando de Incidentes (SCI)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🎯 Designación clara de roles y responsabilidades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📞 Canales de comunicación establecidos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🤝 Coordinación interinstitucional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📋 Registro y documentación de acciones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⏱️ Actualizaciones periódicas del estado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🚨 Protocolos de escalamiento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👥 Trabajo en equipo y apoyo mutuo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C00000"/>
                </a:solidFill>
              </a:defRPr>
            </a:pPr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• Las operaciones de rescate requieren preparación exhaustiva y entrenamiento continuo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• La seguridad del equipo de rescate es prioritaria en toda operación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• La coordinación efectiva salva vidas y optimiza recursos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• El equipamiento adecuado es fundamental para el éxito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• La comunicación clara previene errores y accidentes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• Cada operación debe ser evaluada para mejorar procedimientos futuros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00000"/>
                </a:solidFill>
              </a:defRPr>
            </a:pPr>
            <a: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Universidad Fidelitas</a:t>
            </a:r>
          </a:p>
          <a:p>
            <a:pPr algn="ctr">
              <a:defRPr sz="2000">
                <a:solidFill>
                  <a:srgbClr val="404040"/>
                </a:solidFill>
              </a:defRPr>
            </a:pPr>
            <a:r>
              <a:t>Curso de Fundamentos de Sistemas Operativos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